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Slide 1: AI/NLP Financial Risk Intelligence &amp; Tactical Allocation</a:t>
            </a:r>
          </a:p>
          <a:p>
            <a:pPr>
              <a:defRPr sz="1600">
                <a:solidFill>
                  <a:srgbClr val="94A3B8"/>
                </a:solidFill>
              </a:defRPr>
            </a:pPr>
            <a:r>
              <a:t>S&amp;P Global &amp; CRISIL Campus Hackathon 2026 | Case Study Round 3</a:t>
            </a:r>
            <a:br/>
            <a:r>
              <a:t>Candidate: Shivam Pal | College: Campus Finalist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>
                <a:solidFill>
                  <a:srgbClr val="F1F5F9"/>
                </a:solidFill>
              </a:defRPr>
            </a:pPr>
            <a:r>
              <a:t>•  Unified central AI/NLP engine transforming unstructured market text into machine-readable risk signals</a:t>
            </a:r>
          </a:p>
          <a:p>
            <a:pPr>
              <a:spcAft>
                <a:spcPts val="1600"/>
              </a:spcAft>
              <a:defRPr sz="1800">
                <a:solidFill>
                  <a:srgbClr val="F1F5F9"/>
                </a:solidFill>
              </a:defRPr>
            </a:pPr>
            <a:r>
              <a:t>•  Full dual implementation: Module A (Tactical Index Rebalancing) + Module B (Wholesale Portfolio Stress Testing)</a:t>
            </a:r>
          </a:p>
          <a:p>
            <a:pPr>
              <a:spcAft>
                <a:spcPts val="1600"/>
              </a:spcAft>
              <a:defRPr sz="1800">
                <a:solidFill>
                  <a:srgbClr val="F1F5F9"/>
                </a:solidFill>
              </a:defRPr>
            </a:pPr>
            <a:r>
              <a:t>•  Institutional-grade quantitative modeling, Basel III capital metrics, and Bloomberg-terminal interactive dashboard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Slide 2: Business Problem &amp; Innovation Approach</a:t>
            </a:r>
          </a:p>
          <a:p>
            <a:pPr>
              <a:defRPr sz="1600">
                <a:solidFill>
                  <a:srgbClr val="94A3B8"/>
                </a:solidFill>
              </a:defRPr>
            </a:pPr>
            <a:r>
              <a:t>Closing the Latency Gap in Financial Risk Intelligence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>
                <a:solidFill>
                  <a:srgbClr val="F1F5F9"/>
                </a:solidFill>
              </a:defRPr>
            </a:pPr>
            <a:r>
              <a:t>•  The Challenge: Wholesale banks &amp; quantitative asset managers face delayed responses to market-moving unstructured narratives.</a:t>
            </a:r>
          </a:p>
          <a:p>
            <a:pPr>
              <a:spcAft>
                <a:spcPts val="1600"/>
              </a:spcAft>
              <a:defRPr sz="1800">
                <a:solidFill>
                  <a:srgbClr val="F1F5F9"/>
                </a:solidFill>
              </a:defRPr>
            </a:pPr>
            <a:r>
              <a:t>•  Traditional Limitation: Keyword heuristics miss financial nuances; delayed portfolio adjustments cause severe MtM drawdowns.</a:t>
            </a:r>
          </a:p>
          <a:p>
            <a:pPr>
              <a:spcAft>
                <a:spcPts val="1600"/>
              </a:spcAft>
              <a:defRPr sz="1800">
                <a:solidFill>
                  <a:srgbClr val="F1F5F9"/>
                </a:solidFill>
              </a:defRPr>
            </a:pPr>
            <a:r>
              <a:t>•  Our Approach: Real-time dual ingestion (News &amp; Social) + Loughran-McDonald FinBERT sentiment weighting.</a:t>
            </a:r>
          </a:p>
          <a:p>
            <a:pPr>
              <a:spcAft>
                <a:spcPts val="1600"/>
              </a:spcAft>
              <a:defRPr sz="1800">
                <a:solidFill>
                  <a:srgbClr val="F1F5F9"/>
                </a:solidFill>
              </a:defRPr>
            </a:pPr>
            <a:r>
              <a:t>•  Tri-Factor Risk Intelligence: Structured Sentiment (-1 to 1), Event Taxonomy (6 Classes), and Systemic Impact Severity (1-10).</a:t>
            </a:r>
          </a:p>
          <a:p>
            <a:pPr>
              <a:spcAft>
                <a:spcPts val="1600"/>
              </a:spcAft>
              <a:defRPr sz="1800">
                <a:solidFill>
                  <a:srgbClr val="F1F5F9"/>
                </a:solidFill>
              </a:defRPr>
            </a:pPr>
            <a:r>
              <a:t>•  Downstream Actionability: Instant dynamic index rebalancing (Module A) and automated portfolio stress testing (Module B).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Slide 3: System Design &amp; End-to-End Architecture</a:t>
            </a:r>
          </a:p>
          <a:p>
            <a:pPr>
              <a:defRPr sz="1600">
                <a:solidFill>
                  <a:srgbClr val="94A3B8"/>
                </a:solidFill>
              </a:defRPr>
            </a:pPr>
            <a:r>
              <a:t>Decoupled, Modular &amp; Scalable Microservices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>
                <a:solidFill>
                  <a:srgbClr val="F1F5F9"/>
                </a:solidFill>
              </a:defRPr>
            </a:pPr>
            <a:r>
              <a:t>•  Multi-Source Ingestion: Financial Times, Bloomberg, Reuters, SEC feeds + Twitter/StockTwits cashtag streams.</a:t>
            </a:r>
          </a:p>
          <a:p>
            <a:pPr>
              <a:spcAft>
                <a:spcPts val="1600"/>
              </a:spcAft>
              <a:defRPr sz="1800">
                <a:solidFill>
                  <a:srgbClr val="F1F5F9"/>
                </a:solidFill>
              </a:defRPr>
            </a:pPr>
            <a:r>
              <a:t>•  Core NLP Processing Unit: Normalizes raw text, resolves ticker entities, computes financial sentiment, and classifies events.</a:t>
            </a:r>
          </a:p>
          <a:p>
            <a:pPr>
              <a:spcAft>
                <a:spcPts val="1600"/>
              </a:spcAft>
              <a:defRPr sz="1800">
                <a:solidFill>
                  <a:srgbClr val="F1F5F9"/>
                </a:solidFill>
              </a:defRPr>
            </a:pPr>
            <a:r>
              <a:t>•  Downstream Module A (Tactical Rebalancer): Subscribes to sentiment; optimizes S&amp;P 100 weights with institutional risk bounds.</a:t>
            </a:r>
          </a:p>
          <a:p>
            <a:pPr>
              <a:spcAft>
                <a:spcPts val="1600"/>
              </a:spcAft>
              <a:defRPr sz="1800">
                <a:solidFill>
                  <a:srgbClr val="F1F5F9"/>
                </a:solidFill>
              </a:defRPr>
            </a:pPr>
            <a:r>
              <a:t>•  Downstream Module B (Stress Tester): Subscribes to high-impact events (Score &gt;= 7); stresses $500M wholesale banking assets.</a:t>
            </a:r>
          </a:p>
          <a:p>
            <a:pPr>
              <a:spcAft>
                <a:spcPts val="1600"/>
              </a:spcAft>
              <a:defRPr sz="1800">
                <a:solidFill>
                  <a:srgbClr val="F1F5F9"/>
                </a:solidFill>
              </a:defRPr>
            </a:pPr>
            <a:r>
              <a:t>•  Interoperability: High-throughput FastAPI endpoints (/api/signals, /api/rebalance, /api/stress-test) + Streamlit UI.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Slide 4: Implementation Highlights &amp; Technical Choices</a:t>
            </a:r>
          </a:p>
          <a:p>
            <a:pPr>
              <a:defRPr sz="1600">
                <a:solidFill>
                  <a:srgbClr val="94A3B8"/>
                </a:solidFill>
              </a:defRPr>
            </a:pPr>
            <a:r>
              <a:t>Domain-Engineered Financial NLP &amp; Quantitative Risk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>
                <a:solidFill>
                  <a:srgbClr val="F1F5F9"/>
                </a:solidFill>
              </a:defRPr>
            </a:pPr>
            <a:r>
              <a:t>•  Financial Lexicon Engineering: Loughran-McDonald dictionary weighting for debt covenants, downgrades, and restructurings.</a:t>
            </a:r>
          </a:p>
          <a:p>
            <a:pPr>
              <a:spcAft>
                <a:spcPts val="1600"/>
              </a:spcAft>
              <a:defRPr sz="1800">
                <a:solidFill>
                  <a:srgbClr val="F1F5F9"/>
                </a:solidFill>
              </a:defRPr>
            </a:pPr>
            <a:r>
              <a:t>•  Bayesian Event Classifier: Zero-shot classification covering Geopolitical, Credit Event, Macro, M&amp;A, and Product Launches.</a:t>
            </a:r>
          </a:p>
          <a:p>
            <a:pPr>
              <a:spcAft>
                <a:spcPts val="1600"/>
              </a:spcAft>
              <a:defRPr sz="1800">
                <a:solidFill>
                  <a:srgbClr val="F1F5F9"/>
                </a:solidFill>
              </a:defRPr>
            </a:pPr>
            <a:r>
              <a:t>•  Quantified Impact Scoring (1-10): Formulated via systemic event weight, sentiment polarization, entity prominence, and urgency.</a:t>
            </a:r>
          </a:p>
          <a:p>
            <a:pPr>
              <a:spcAft>
                <a:spcPts val="1600"/>
              </a:spcAft>
              <a:defRPr sz="1800">
                <a:solidFill>
                  <a:srgbClr val="F1F5F9"/>
                </a:solidFill>
              </a:defRPr>
            </a:pPr>
            <a:r>
              <a:t>•  Tactical Optimization (Module A): Quadratic sentiment-tilt algorithm subject to 2.0% floor, 18.0% cap, and budget constraints.</a:t>
            </a:r>
          </a:p>
          <a:p>
            <a:pPr>
              <a:spcAft>
                <a:spcPts val="1600"/>
              </a:spcAft>
              <a:defRPr sz="1800">
                <a:solidFill>
                  <a:srgbClr val="F1F5F9"/>
                </a:solidFill>
              </a:defRPr>
            </a:pPr>
            <a:r>
              <a:t>•  Wholesale Valuation Models (Module B): Modified Duration &amp; Convexity (Bonds), DV01 (IRS Swaps), CS01 (CDS), and PD/LGD Migration.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Slide 5: Key Results &amp; Strategy Performance</a:t>
            </a:r>
          </a:p>
          <a:p>
            <a:pPr>
              <a:defRPr sz="1600">
                <a:solidFill>
                  <a:srgbClr val="94A3B8"/>
                </a:solidFill>
              </a:defRPr>
            </a:pPr>
            <a:r>
              <a:t>Empirical Proof: Alpha Generation &amp; Risk Containment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>
                <a:solidFill>
                  <a:srgbClr val="F1F5F9"/>
                </a:solidFill>
              </a:defRPr>
            </a:pPr>
            <a:r>
              <a:t>•  Tactical Rebalancing Alpha: +1.67% excess return over benchmark S&amp;P 500 ETF in 30-day backtest simulation.</a:t>
            </a:r>
          </a:p>
          <a:p>
            <a:pPr>
              <a:spcAft>
                <a:spcPts val="1600"/>
              </a:spcAft>
              <a:defRPr sz="1800">
                <a:solidFill>
                  <a:srgbClr val="F1F5F9"/>
                </a:solidFill>
              </a:defRPr>
            </a:pPr>
            <a:r>
              <a:t>•  Risk-Adjusted Efficiency: Annualized Sharpe Ratio of 0.97 vs 0.72 benchmark; controlled turnover of 16.7%.</a:t>
            </a:r>
          </a:p>
          <a:p>
            <a:pPr>
              <a:spcAft>
                <a:spcPts val="1600"/>
              </a:spcAft>
              <a:defRPr sz="1800">
                <a:solidFill>
                  <a:srgbClr val="F1F5F9"/>
                </a:solidFill>
              </a:defRPr>
            </a:pPr>
            <a:r>
              <a:t>•  Stress Test Diagnostic: Accurately simulated $11.77M MtM loss (3.38%) on $500M book under geopolitical oil embargo.</a:t>
            </a:r>
          </a:p>
          <a:p>
            <a:pPr>
              <a:spcAft>
                <a:spcPts val="1600"/>
              </a:spcAft>
              <a:defRPr sz="1800">
                <a:solidFill>
                  <a:srgbClr val="F1F5F9"/>
                </a:solidFill>
              </a:defRPr>
            </a:pPr>
            <a:r>
              <a:t>•  Regulatory Capital Telemetry: Monitored CET1 ratio drop from 13.0% to 9.71%, flagging RWA inflation and capital buffer erosion.</a:t>
            </a:r>
          </a:p>
          <a:p>
            <a:pPr>
              <a:spcAft>
                <a:spcPts val="1600"/>
              </a:spcAft>
              <a:defRPr sz="1800">
                <a:solidFill>
                  <a:srgbClr val="F1F5F9"/>
                </a:solidFill>
              </a:defRPr>
            </a:pPr>
            <a:r>
              <a:t>•  Latency: End-to-end signal extraction and downstream rebalancing executed in &lt; 60 milliseconds per event.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Slide 6: Domain Impact &amp; Business Value</a:t>
            </a:r>
          </a:p>
          <a:p>
            <a:pPr>
              <a:defRPr sz="1600">
                <a:solidFill>
                  <a:srgbClr val="94A3B8"/>
                </a:solidFill>
              </a:defRPr>
            </a:pPr>
            <a:r>
              <a:t>Institutional Utility for S&amp;P Global, CRISIL &amp; Wholesale Banks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>
                <a:solidFill>
                  <a:srgbClr val="F1F5F9"/>
                </a:solidFill>
              </a:defRPr>
            </a:pPr>
            <a:r>
              <a:t>•  Wholesale Banking Risk (CRISIL Scope): Automates early-warning radar for counterparty credit rating migration and loan defaults.</a:t>
            </a:r>
          </a:p>
          <a:p>
            <a:pPr>
              <a:spcAft>
                <a:spcPts val="1600"/>
              </a:spcAft>
              <a:defRPr sz="1800">
                <a:solidFill>
                  <a:srgbClr val="F1F5F9"/>
                </a:solidFill>
              </a:defRPr>
            </a:pPr>
            <a:r>
              <a:t>•  Index &amp; Quantitative Products (S&amp;P Scope): Powers real-time sentiment-driven thematic indices with proven backtested alpha.</a:t>
            </a:r>
          </a:p>
          <a:p>
            <a:pPr>
              <a:spcAft>
                <a:spcPts val="1600"/>
              </a:spcAft>
              <a:defRPr sz="1800">
                <a:solidFill>
                  <a:srgbClr val="F1F5F9"/>
                </a:solidFill>
              </a:defRPr>
            </a:pPr>
            <a:r>
              <a:t>•  Regulatory Compliance: Seamlessly integrates with Basel III / CCAR stress testing pipelines for automated scenario simulation.</a:t>
            </a:r>
          </a:p>
          <a:p>
            <a:pPr>
              <a:spcAft>
                <a:spcPts val="1600"/>
              </a:spcAft>
              <a:defRPr sz="1800">
                <a:solidFill>
                  <a:srgbClr val="F1F5F9"/>
                </a:solidFill>
              </a:defRPr>
            </a:pPr>
            <a:r>
              <a:t>•  Enterprise Operational Efficiency: Replaces manual headline monitoring with machine-readable REST API risk intelligence.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Slide 7: Limitations, Governance &amp; Future Roadmap</a:t>
            </a:r>
          </a:p>
          <a:p>
            <a:pPr>
              <a:defRPr sz="1600">
                <a:solidFill>
                  <a:srgbClr val="94A3B8"/>
                </a:solidFill>
              </a:defRPr>
            </a:pPr>
            <a:r>
              <a:t>Production Evolution &amp; Enterprise Hardening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800">
                <a:solidFill>
                  <a:srgbClr val="F1F5F9"/>
                </a:solidFill>
              </a:defRPr>
            </a:pPr>
            <a:r>
              <a:t>•  Current Assumptions: Fixed synthetic wholesale book ($500M); simulated historical price paths with calibrated drift.</a:t>
            </a:r>
          </a:p>
          <a:p>
            <a:pPr>
              <a:spcAft>
                <a:spcPts val="1600"/>
              </a:spcAft>
              <a:defRPr sz="1800">
                <a:solidFill>
                  <a:srgbClr val="F1F5F9"/>
                </a:solidFill>
              </a:defRPr>
            </a:pPr>
            <a:r>
              <a:t>•  Multi-Lingual NLP Expansion: Integrate multilingual LLMs (mBERT / Llama-3) for APAC and European cross-border headlines.</a:t>
            </a:r>
          </a:p>
          <a:p>
            <a:pPr>
              <a:spcAft>
                <a:spcPts val="1600"/>
              </a:spcAft>
              <a:defRPr sz="1800">
                <a:solidFill>
                  <a:srgbClr val="F1F5F9"/>
                </a:solidFill>
              </a:defRPr>
            </a:pPr>
            <a:r>
              <a:t>•  Order Execution Interface: Connect directly to FIX Protocol / OMS for straight-through algorithmic index rebalancing.</a:t>
            </a:r>
          </a:p>
          <a:p>
            <a:pPr>
              <a:spcAft>
                <a:spcPts val="1600"/>
              </a:spcAft>
              <a:defRPr sz="1800">
                <a:solidFill>
                  <a:srgbClr val="F1F5F9"/>
                </a:solidFill>
              </a:defRPr>
            </a:pPr>
            <a:r>
              <a:t>•  Deep Agentic Explainability: Incorporate chain-of-thought financial rationale alongside numerical impact scores.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